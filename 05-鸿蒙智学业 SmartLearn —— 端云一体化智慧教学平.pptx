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各位老师好，我汇报的项目是鸿蒙智学业——一个跑在 HarmonyOS NEXT 上的完整教学平台，学生、教师、管理员三种角色，47 张数据表，107 项自动化测试全部通过。下面用 15 分钟带大家完整走一遍。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发现当前教学场景存在学习过程分散、测评不闭环、师生互动弱和就业脱节四大痛点。为此，我们的项目目标是打造一个一站式、端云一体、数据驱动的智慧教学平台，打通'教-学-练-评-测-管-就业'七个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分三层看——端侧是 ArkTS 原生 App，63 个页面，深浅色双主题；接口层是 FastAPI，18 个路由模块，JWT 认证加角色权限装饰器；数据层是 MySQL，47 张表全外键约束。所有外部服务都做了优雅降级，没有密钥也能完整运行。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我们的技术选型兼顾了前沿性和实用性。端侧采用鸿蒙原生技术，后端选择 FastAPI 实现高吞吐，数据库选用生产级的 MySQL。特别值得一提的是，我们的后端设计非常灵活，开发时使用 SQLite 无需任何配置，上线时只需修改一行环境变量即可无缝切换到 MySQL。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功能覆盖了教学的全链路。对于学生，我们提供了从课程学习到简历投递的一站式服务；对于教师，课程管理、组卷监考等核心工作都可以在平台上完成；对于管理员，数据大屏和审核流让平台运营更加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学生端的核心学习流程。从登录后的个性化首页，到课程学习的断点续播，再到讨论广场的真实分页互动，最后到错题本的自动归集。这里有两个特别值得注意的细节：第一，我们的分页是真正的服务端分页；第二，错题本里的每一道题，都是从考试判分后自动流转过来的，保证了数据链路的真实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考试模块是我们平台的核心之一。我们设计了三重防作弊机制：服务端倒计时、切屏监控和试卷快照。我们的判分引擎支持五种题型，客观题可以实现即时判分，并将结果同步到错题本和学生能力画像中，形成完整的测评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学习和考试，我们还构建了完善的互动体系。私聊系统方便师生一对一答疑，签到功能让课堂考勤变得简单高效。特别值得一提的是我们的教研室功能，这是一个教师专属的隔离空间，学生无法访问，保证了教师交流的专业性和私密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本轮新增的反馈中心功能。它实现了一个完整的三端闭环：学生可以提交反馈，管理员在后台进行处理，处理结果会实时同步给学生。整个流程就像一个真实的产品工单系统，大大提升了用户问题的解决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集成了AI智能体，覆盖了8个核心学习场景。从技术实现上，我们设计了完整的处理管线，包括输入脱敏、RAG检索、LLM调用和输出过滤，确保AI交互的安全和可控。特别值得一提的是我们的降级策略，即使没有大模型API Key，系统也能通过规则引擎提供基础服务。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管理端，我们提供了数据大屏，方便管理员实时监控平台运行状态。这里展示的所有数据，包括用户数、课程数、考试记录等，都是从数据库中真实查询返回的，而不是前端写死的假数据。这保证了数据的真实性和可信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非常注重工程质量。首先，我们编写了107个后端测试用例，全部通过。其次，我们的系统设计具备幂等性，可以安全地重复执行而不会产生副作用。最后，我们还通过自动化脚本对63个核心页面进行了端到端验证，确保整个系统的稳定性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为了方便部署，我们提供了多种方案。最简单的是一键启动脚本，3分钟内就能让整个系统运行起来。同时，我们也提供了详细的手动部署步骤和Docker Compose容器化部署方案，满足不同用户的需求。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实现了教学全链路的完整覆盖，系统设计可信可靠，并且具备一键部署的可交付性。展望未来，我们计划将应用上架AGC，深化AI能力，特别是实现本地小模型的离线化，并进一步挖掘数据价值，为教学提供更智能的预警和干预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28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79.svg"/><Relationship Id="rId3" Type="http://schemas.openxmlformats.org/officeDocument/2006/relationships/image" Target="../media/image52.png"/><Relationship Id="rId29" Type="http://schemas.openxmlformats.org/officeDocument/2006/relationships/image" Target="../media/image78.png"/><Relationship Id="rId28" Type="http://schemas.openxmlformats.org/officeDocument/2006/relationships/image" Target="../media/image77.svg"/><Relationship Id="rId27" Type="http://schemas.openxmlformats.org/officeDocument/2006/relationships/image" Target="../media/image76.png"/><Relationship Id="rId26" Type="http://schemas.openxmlformats.org/officeDocument/2006/relationships/image" Target="../media/image75.svg"/><Relationship Id="rId25" Type="http://schemas.openxmlformats.org/officeDocument/2006/relationships/image" Target="../media/image74.png"/><Relationship Id="rId24" Type="http://schemas.openxmlformats.org/officeDocument/2006/relationships/image" Target="../media/image73.svg"/><Relationship Id="rId23" Type="http://schemas.openxmlformats.org/officeDocument/2006/relationships/image" Target="../media/image72.png"/><Relationship Id="rId22" Type="http://schemas.openxmlformats.org/officeDocument/2006/relationships/image" Target="../media/image71.svg"/><Relationship Id="rId21" Type="http://schemas.openxmlformats.org/officeDocument/2006/relationships/image" Target="../media/image70.png"/><Relationship Id="rId20" Type="http://schemas.openxmlformats.org/officeDocument/2006/relationships/image" Target="../media/image69.svg"/><Relationship Id="rId2" Type="http://schemas.openxmlformats.org/officeDocument/2006/relationships/image" Target="../media/image51.svg"/><Relationship Id="rId19" Type="http://schemas.openxmlformats.org/officeDocument/2006/relationships/image" Target="../media/image68.png"/><Relationship Id="rId18" Type="http://schemas.openxmlformats.org/officeDocument/2006/relationships/image" Target="../media/image67.svg"/><Relationship Id="rId17" Type="http://schemas.openxmlformats.org/officeDocument/2006/relationships/image" Target="../media/image66.png"/><Relationship Id="rId16" Type="http://schemas.openxmlformats.org/officeDocument/2006/relationships/image" Target="../media/image65.svg"/><Relationship Id="rId15" Type="http://schemas.openxmlformats.org/officeDocument/2006/relationships/image" Target="../media/image64.png"/><Relationship Id="rId14" Type="http://schemas.openxmlformats.org/officeDocument/2006/relationships/image" Target="../media/image63.svg"/><Relationship Id="rId13" Type="http://schemas.openxmlformats.org/officeDocument/2006/relationships/image" Target="../media/image62.png"/><Relationship Id="rId12" Type="http://schemas.openxmlformats.org/officeDocument/2006/relationships/image" Target="../media/image61.svg"/><Relationship Id="rId11" Type="http://schemas.openxmlformats.org/officeDocument/2006/relationships/image" Target="../media/image60.png"/><Relationship Id="rId10" Type="http://schemas.openxmlformats.org/officeDocument/2006/relationships/image" Target="../media/image59.svg"/><Relationship Id="rId1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svg"/><Relationship Id="rId7" Type="http://schemas.openxmlformats.org/officeDocument/2006/relationships/image" Target="../media/image104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10.png"/><Relationship Id="rId12" Type="http://schemas.openxmlformats.org/officeDocument/2006/relationships/image" Target="../media/image109.svg"/><Relationship Id="rId11" Type="http://schemas.openxmlformats.org/officeDocument/2006/relationships/image" Target="../media/image108.png"/><Relationship Id="rId10" Type="http://schemas.openxmlformats.org/officeDocument/2006/relationships/image" Target="../media/image107.svg"/><Relationship Id="rId1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60000">
              <a:srgbClr val="1A2744">
                <a:alpha val="100000"/>
              </a:srgbClr>
            </a:gs>
            <a:gs pos="100000">
              <a:srgbClr val="2563EB">
                <a:alpha val="3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HARMONYOS NEXT · FASTAPI · MYSQL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5626">
            <a:off x="1016014" y="139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6B6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317500" algn="tl">
              <a:srgbClr val="06B6D4">
                <a:alpha val="60000"/>
              </a:srgbClr>
            </a:outerShdw>
            <a:reflection blurRad="6350" stA="40000" endA="300" endPos="50000" dist="1905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鸿蒙智学业 SmartLearn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st="25400" dir="54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HarmonyOS NEXT 的端云一体化智慧教学平台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0F172A">
              <a:alpha val="95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  <a:effectLst>
            <a:outerShdw blurRad="381000" dist="152400" dir="5400000" algn="tl">
              <a:srgbClr val="0369A1">
                <a:alpha val="8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48260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0F172A">
              <a:alpha val="95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  <a:effectLst>
            <a:outerShdw blurRad="381000" dist="152400" dir="5400000" algn="tl">
              <a:srgbClr val="0369A1">
                <a:alpha val="8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0" y="4826000"/>
            <a:ext cx="3048000" cy="1651000"/>
          </a:xfrm>
          <a:prstGeom prst="roundRect">
            <a:avLst>
              <a:gd name="adj" fmla="val 7692"/>
            </a:avLst>
          </a:prstGeom>
          <a:solidFill>
            <a:srgbClr val="0F172A">
              <a:alpha val="95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  <a:effectLst>
            <a:outerShdw blurRad="381000" dist="152400" dir="5400000" algn="tl">
              <a:srgbClr val="0369A1">
                <a:alpha val="8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5016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三角色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 · 教师 · 管理员</a:t>
            </a:r>
            <a:endParaRPr lang="en-US" sz="1400" b="0" i="0" u="none" strike="noStrike">
              <a:solidFill>
                <a:srgbClr val="BAE6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5016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63 页面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47 数据表 · 46 接口域</a:t>
            </a:r>
            <a:endParaRPr lang="en-US" sz="1400" b="0" i="0" u="none" strike="noStrike">
              <a:solidFill>
                <a:srgbClr val="BAE6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255000" y="5016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107 测试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全绿通过 · E2E 验证</a:t>
            </a:r>
            <a:endParaRPr lang="en-US" sz="1400" b="0" i="0" u="none" strike="noStrike">
              <a:solidFill>
                <a:srgbClr val="BAE6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6B6D4">
                  <a:alpha val="50000"/>
                </a:srgbClr>
              </a:gs>
              <a:gs pos="100000">
                <a:srgbClr val="06B6D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25400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E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为什么做 · 解决什么问题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ED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98500" y="17145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72C4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76200" dir="5400000" algn="tl">
              <a:srgbClr val="000000">
                <a:alpha val="6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教学场景痛点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98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学习过程散：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视频、题库、作业、笔记各处分裂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12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测评不闭环：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考完不知道错在哪、知识点掌握度黑盒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5270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师生互动弱：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答疑靠口头、考勤靠点名、反馈无通道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17145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72C4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76200" dir="5400000" algn="tl">
              <a:srgbClr val="000000">
                <a:alpha val="6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2095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本项目目标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61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556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课程-练习-测评-错题-画像全链路打通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826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端云一体：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HarmonyOS 原生体验 + 服务端可信判分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" y="6540500"/>
            <a:ext cx="1079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不是做一个页面 demo，而是把「教-学-练-评-测-管-就业」七个环节全部打通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0FFD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63500" dist="25400" dir="2700000" algn="tl">
              <a:srgbClr val="000000">
                <a:alpha val="30000"/>
              </a:srgbClr>
            </a:outerShdw>
            <a:reflection blurRad="6350" stA="40000" endA="300" endPos="30000" dist="381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系统架构：三端拓扑图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162D4B">
              <a:alpha val="95000"/>
            </a:srgbClr>
          </a:solidFill>
          <a:ln w="12700" cap="flat" cmpd="sng">
            <a:solidFill>
              <a:srgbClr val="40FFDA">
                <a:alpha val="70000"/>
              </a:srgbClr>
            </a:solidFill>
            <a:prstDash val="solid"/>
            <a:round/>
          </a:ln>
          <a:effectLst>
            <a:outerShdw blurRad="254000" dir="2700000" algn="tl">
              <a:srgbClr val="40FFDA">
                <a:alpha val="30000"/>
              </a:srgbClr>
            </a:outerShdw>
            <a:reflection blurRad="6350" stA="40000" endA="300" endPos="30000" dist="635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165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76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HarmonyOS NEXT App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286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ArkTS 原生开发 · 63个功能页面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626">
            <a:off x="9652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FFD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2984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基于Stage模型的组件化架构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原生渲染引擎，支持120Hz高刷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深浅色主题自适应与离线缓存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114800" y="2730500"/>
            <a:ext cx="609600" cy="406400"/>
          </a:xfrm>
          <a:prstGeom prst="rightArrow">
            <a:avLst/>
          </a:prstGeom>
          <a:solidFill>
            <a:srgbClr val="40FFDA">
              <a:alpha val="85000"/>
            </a:srgbClr>
          </a:solidFill>
          <a:ln w="12700" cap="flat" cmpd="sng">
            <a:solidFill>
              <a:srgbClr val="40FFDA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953000" y="1397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162D4B">
              <a:alpha val="95000"/>
            </a:srgbClr>
          </a:solidFill>
          <a:ln w="12700" cap="flat" cmpd="sng">
            <a:solidFill>
              <a:srgbClr val="40FFDA">
                <a:alpha val="70000"/>
              </a:srgbClr>
            </a:solidFill>
            <a:prstDash val="solid"/>
            <a:round/>
          </a:ln>
          <a:effectLst>
            <a:outerShdw blurRad="254000" dir="2700000" algn="tl">
              <a:srgbClr val="40FFDA">
                <a:alpha val="30000"/>
              </a:srgbClr>
            </a:outerShdw>
            <a:reflection blurRad="6350" stA="40000" endA="300" endPos="30000" dist="635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1651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65800" y="1676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Backend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286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RESTful API · :8000/api/v1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5207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FFD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207000" y="2984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18个模块化路由，自动文档生成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JWT认证 + 角色权限控制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全局异常捕获与性能监控切面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730500"/>
            <a:ext cx="508000" cy="406400"/>
          </a:xfrm>
          <a:prstGeom prst="rightArrow">
            <a:avLst/>
          </a:prstGeom>
          <a:solidFill>
            <a:srgbClr val="40FFDA">
              <a:alpha val="85000"/>
            </a:srgbClr>
          </a:solidFill>
          <a:ln w="12700" cap="flat" cmpd="sng">
            <a:solidFill>
              <a:srgbClr val="40FFDA">
                <a:alpha val="9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67800" y="1397000"/>
            <a:ext cx="2413000" cy="3048000"/>
          </a:xfrm>
          <a:prstGeom prst="roundRect">
            <a:avLst>
              <a:gd name="adj" fmla="val 6315"/>
            </a:avLst>
          </a:prstGeom>
          <a:solidFill>
            <a:srgbClr val="162D4B">
              <a:alpha val="95000"/>
            </a:srgbClr>
          </a:solidFill>
          <a:ln w="12700" cap="flat" cmpd="sng">
            <a:solidFill>
              <a:srgbClr val="40FFDA">
                <a:alpha val="70000"/>
              </a:srgbClr>
            </a:solidFill>
            <a:prstDash val="solid"/>
            <a:round/>
          </a:ln>
          <a:effectLst>
            <a:outerShdw blurRad="254000" dir="2700000" algn="tl">
              <a:srgbClr val="40FFDA">
                <a:alpha val="30000"/>
              </a:srgbClr>
            </a:outerShdw>
            <a:reflection blurRad="6350" stA="40000" endA="300" endPos="30000" dist="635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1651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79000" y="16764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2286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47张表 · utf8mb4_unicode_ci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2322">
            <a:off x="9271021" y="2787650"/>
            <a:ext cx="195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FFD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271000" y="2984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InnoDB引擎，支持事务与外键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严格的索引优化与读写分离</a:t>
            </a:r>
            <a:b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定期自动备份与数据恢复策略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" y="4762500"/>
            <a:ext cx="10769600" cy="1397000"/>
          </a:xfrm>
          <a:prstGeom prst="roundRect">
            <a:avLst>
              <a:gd name="adj" fmla="val 10909"/>
            </a:avLst>
          </a:prstGeom>
          <a:solidFill>
            <a:srgbClr val="0F1E32">
              <a:alpha val="95000"/>
            </a:srgbClr>
          </a:solidFill>
          <a:ln w="12700" cap="flat" cmpd="sng">
            <a:solidFill>
              <a:srgbClr val="40FFDA">
                <a:alpha val="50000"/>
              </a:srgbClr>
            </a:solidFill>
            <a:prstDash val="solid"/>
            <a:round/>
          </a:ln>
          <a:effectLst>
            <a:outerShdw blurRad="190500" dir="2700000" algn="tl">
              <a:srgbClr val="40FFDA">
                <a:alpha val="20000"/>
              </a:srgbClr>
            </a:outerShdw>
            <a:reflection blurRad="6350" stA="30000" endA="300" endPos="20000" dist="381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9784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524000" y="49784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高可用保障：外部服务的“优雅降级”机制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系统对第三方依赖（OBS对象存储、Qdrant向量库、AGC推送、LLM API）均实现了无感降级策略：无配置时自动回退至本地存储/内存检索/日志记录/规则引擎，确保在无外部密钥的环境下仍能完整运行，兼顾开发便捷性与生产环境的稳定性。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smGrid">
            <a:fgClr>
              <a:srgbClr val="FFFFFF">
                <a:alpha val="5098"/>
              </a:srgbClr>
            </a:fgClr>
            <a:bgClr>
              <a:srgbClr val="0A192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技术栈选型与理由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" y="1397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87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端侧交互层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ArkTS + ArkUI (API 23)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基于HarmonyOS NEXT原生声明式框架，实现高性能原生渲染，保障极致的用户交互体验与跨端一致性。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397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587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组件支撑层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03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IBest V2 企业级组件库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60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遵循统一的企业级设计规范，封装高频通用业务组件，大幅提升开发效率与界面视觉一致性。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91500" y="1397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1587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后端服务层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03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+ SQLAlchemy 2.0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0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异步高吞吐架构设计，结合强类型ORM保障代码健壮性，完美适配高并发业务场景的性能需求。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" y="3810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0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数据持久层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 (utf8mb4)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16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生产级稳定可靠的关系型数据库，原生支持emoji与全量中文字符存储，满足业务全球化与内容多样性需求。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3810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72000" y="400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安全认证层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444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 + BCrypt 加密体系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5016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采用无状态的身份校验机制，密码通过BCrypt高强度哈希存储，从源头保障用户账号与系统访问安全。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3810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016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382000" y="400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质量保障层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44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pytest + ASGI 内存传输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5016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基于内存传输的高效自动化测试方案，覆盖107个核心业务用例且全部通过，确保交付质量与迭代稳定性。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71500" y="5969000"/>
            <a:ext cx="11049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98500" y="60706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灵活部署兼容：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后端架构天然兼容SQLite开发模式，依托SQLAlchemy方言层实现自动切换，开发零配置启动，生产仅需修改一行环境变量即可无缝迁移至MySQL。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  <a:effectLst>
            <a:outerShdw blurRad="190500" dist="63500" dir="2700000" algn="tl">
              <a:srgbClr val="000000">
                <a:alpha val="35000"/>
              </a:srgbClr>
            </a:outerShdw>
            <a:reflection blurRad="6350" stA="30000" endA="300" endPos="20000" dist="508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功能全景：十大模块地图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3492500" cy="3429000"/>
          </a:xfrm>
          <a:prstGeom prst="roundRect">
            <a:avLst>
              <a:gd name="adj" fmla="val 0"/>
            </a:avLst>
          </a:prstGeom>
          <a:solidFill>
            <a:srgbClr val="8B5CF6">
              <a:alpha val="22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</a:ln>
          <a:effectLst>
            <a:outerShdw blurRad="279400" dist="101600" dir="2700000" algn="tl">
              <a:srgbClr val="8B5CF6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38200" y="16764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学生端 · 全链路成长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481">
            <a:off x="838212" y="2152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38200" y="2286000"/>
            <a:ext cx="32385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📖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沉浸式学习：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断点续播、多格式预览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智能错题本：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自动归集，举一反三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🧭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成长导航：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个性计划与画像分析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👥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社交与求职：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社区互动、简历投递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43400" y="1524000"/>
            <a:ext cx="3492500" cy="3429000"/>
          </a:xfrm>
          <a:prstGeom prst="roundRect">
            <a:avLst>
              <a:gd name="adj" fmla="val 0"/>
            </a:avLst>
          </a:prstGeom>
          <a:solidFill>
            <a:srgbClr val="10B981">
              <a:alpha val="24000"/>
            </a:srgbClr>
          </a:solidFill>
          <a:ln w="25400" cap="flat" cmpd="sng">
            <a:solidFill>
              <a:srgbClr val="34D399">
                <a:alpha val="90000"/>
              </a:srgbClr>
            </a:solidFill>
            <a:prstDash val="solid"/>
            <a:round/>
          </a:ln>
          <a:effectLst>
            <a:outerShdw blurRad="279400" dist="101600" dir="2700000" algn="tl">
              <a:srgbClr val="10B981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6764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教师端 · 高效教学闭环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481">
            <a:off x="4470412" y="2152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470400" y="2286000"/>
            <a:ext cx="32385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课程工坊：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可视化编排、一键发布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📑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智能考务：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自动组卷、监考判分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💬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互动教学：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签到批改、教研协作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学情分析：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多维报表、质量评估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75600" y="1524000"/>
            <a:ext cx="3492500" cy="3429000"/>
          </a:xfrm>
          <a:prstGeom prst="roundRect">
            <a:avLst>
              <a:gd name="adj" fmla="val 0"/>
            </a:avLst>
          </a:prstGeom>
          <a:solidFill>
            <a:srgbClr val="F97316">
              <a:alpha val="24000"/>
            </a:srgbClr>
          </a:solidFill>
          <a:ln w="25400" cap="flat" cmpd="sng">
            <a:solidFill>
              <a:srgbClr val="FB923C">
                <a:alpha val="90000"/>
              </a:srgbClr>
            </a:solidFill>
            <a:prstDash val="solid"/>
            <a:round/>
          </a:ln>
          <a:effectLst>
            <a:outerShdw blurRad="279400" dist="101600" dir="2700000" algn="tl">
              <a:srgbClr val="F97316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02600" y="16764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管理端 · 智能运营管控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481">
            <a:off x="8102612" y="2152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102600" y="2286000"/>
            <a:ext cx="32385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🖥️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数据驾驶舱：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实时监控核心指标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权限治理：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精细分配与操作审计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风控审核：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合规审核与实名认证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运维响应：</a:t>
            </a: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工单闭环与反馈中心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11200" y="5270500"/>
            <a:ext cx="3492500" cy="1079500"/>
          </a:xfrm>
          <a:prstGeom prst="roundRect">
            <a:avLst>
              <a:gd name="adj" fmla="val 0"/>
            </a:avLst>
          </a:prstGeom>
          <a:solidFill>
            <a:srgbClr val="8B5CF6">
              <a:alpha val="32000"/>
            </a:srgbClr>
          </a:solidFill>
          <a:ln w="25400" cap="flat" cmpd="sng">
            <a:solidFill>
              <a:srgbClr val="A78BFA">
                <a:alpha val="90000"/>
              </a:srgbClr>
            </a:solidFill>
            <a:prstDash val="solid"/>
            <a:round/>
          </a:ln>
          <a:effectLst>
            <a:outerShdw blurRad="228600" dist="76200" dir="2700000" algn="tl">
              <a:srgbClr val="8B5CF6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" y="53594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63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功能页面总数</a:t>
            </a:r>
            <a:endParaRPr lang="en-US" sz="1100"/>
          </a:p>
          <a:p>
            <a:pPr marL="0" indent="0" algn="l">
              <a:lnSpc>
                <a:spcPct val="92000"/>
              </a:lnSpc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覆盖全场景交互界面</a:t>
            </a:r>
            <a:endParaRPr lang="en-US" sz="11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43400" y="5270500"/>
            <a:ext cx="3492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32000"/>
            </a:srgbClr>
          </a:solidFill>
          <a:ln w="25400" cap="flat" cmpd="sng">
            <a:solidFill>
              <a:srgbClr val="34D399">
                <a:alpha val="90000"/>
              </a:srgbClr>
            </a:solidFill>
            <a:prstDash val="solid"/>
            <a:round/>
          </a:ln>
          <a:effectLst>
            <a:outerShdw blurRad="228600" dist="76200" dir="2700000" algn="tl">
              <a:srgbClr val="10B981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470400" y="53594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46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核心接口域</a:t>
            </a:r>
            <a:endParaRPr lang="en-US" sz="1100"/>
          </a:p>
          <a:p>
            <a:pPr marL="0" indent="0" algn="l">
              <a:lnSpc>
                <a:spcPct val="92000"/>
              </a:lnSpc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高可用微服务接口体系</a:t>
            </a:r>
            <a:endParaRPr lang="en-US" sz="11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975600" y="5270500"/>
            <a:ext cx="3492500" cy="1079500"/>
          </a:xfrm>
          <a:prstGeom prst="roundRect">
            <a:avLst>
              <a:gd name="adj" fmla="val 0"/>
            </a:avLst>
          </a:prstGeom>
          <a:solidFill>
            <a:srgbClr val="F97316">
              <a:alpha val="32000"/>
            </a:srgbClr>
          </a:solidFill>
          <a:ln w="25400" cap="flat" cmpd="sng">
            <a:solidFill>
              <a:srgbClr val="FB923C">
                <a:alpha val="90000"/>
              </a:srgbClr>
            </a:solidFill>
            <a:prstDash val="solid"/>
            <a:round/>
          </a:ln>
          <a:effectLst>
            <a:outerShdw blurRad="228600" dist="76200" dir="2700000" algn="tl">
              <a:srgbClr val="F97316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02600" y="53594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47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业务数据表</a:t>
            </a:r>
            <a:endParaRPr lang="en-US" sz="1100"/>
          </a:p>
          <a:p>
            <a:pPr marL="0" indent="0" algn="l">
              <a:lnSpc>
                <a:spcPct val="92000"/>
              </a:lnSpc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规范化存储核心业务数据</a:t>
            </a:r>
            <a:endParaRPr lang="en-US" sz="11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0A192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52400" dir="2700000" algn="tl">
              <a:srgbClr val="38BDF8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核心演示①：学生端学习闭环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778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77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76200" dir="2700000" algn="tl">
              <a:srgbClr val="38BDF8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登录与首页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222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个性化首页聚合问候、推荐课程与签到，一键触达核心场景。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048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304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76200" dir="2700000" algn="tl">
              <a:srgbClr val="38BDF8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课程学习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492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支持多元媒资，进度云端同步，适配碎片化学习场景。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254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254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76200" dir="2700000" algn="tl">
              <a:srgbClr val="38BDF8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讨论广场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469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服务端真分页，搭配互动功能，构建活跃学习社区。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334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5334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76200" dir="2700000" algn="tl">
              <a:srgbClr val="38BDF8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错题本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61214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143000" y="609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2700000" algn="tl">
              <a:srgbClr val="38BDF8">
                <a:alpha val="7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技术硬核：服务端真分页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91000" y="61214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572000" y="609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2700000" algn="tl">
              <a:srgbClr val="38BDF8">
                <a:alpha val="7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业务闭环：全流程自动归集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9135" y="79375"/>
            <a:ext cx="3514090" cy="6778625"/>
          </a:xfrm>
          <a:prstGeom prst="roundRect">
            <a:avLst>
              <a:gd name="adj" fmla="val 0"/>
            </a:avLst>
          </a:prstGeom>
          <a:blipFill rotWithShape="1">
            <a:blip r:embed="rId13"/>
            <a:stretch>
              <a:fillRect/>
            </a:stretch>
          </a:blipFill>
          <a:ln w="25400" cap="flat" cmpd="sng">
            <a:solidFill>
              <a:srgbClr val="38BDF8">
                <a:alpha val="90000"/>
              </a:srgbClr>
            </a:solidFill>
            <a:prstDash val="solid"/>
            <a:round/>
          </a:ln>
          <a:effectLst>
            <a:outerShdw blurRad="254000" dir="2700000" algn="tl">
              <a:srgbClr val="38BDF8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学生端学习闭环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endParaRPr lang="en-US" sz="1300" b="0" i="0" u="none" strike="noStrike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smGrid">
            <a:fgClr>
              <a:srgbClr val="FFFFFF">
                <a:alpha val="3137"/>
              </a:srgbClr>
            </a:fgClr>
            <a:bgClr>
              <a:srgbClr val="0A192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核心演示②：考试防作弊与五题型判分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多维防作弊安全防线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540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2565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服务端时间锚定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71600" y="3022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倒计时运行于服务端，客户端无法篡改，从源头杜绝时间作弊。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93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716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异常切屏监测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71600" y="4419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实时记录切屏次数与时长，异常行为自动标记上报，支撑监考决策。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20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71600" y="523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试卷快照隔离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71600" y="5689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开考即生成试卷快照，中途修改题库不影响当前考试，保障试题稳定。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五题型智能判分引擎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286000"/>
            <a:ext cx="5207000" cy="4318000"/>
          </a:xfrm>
          <a:prstGeom prst="roundRect">
            <a:avLst>
              <a:gd name="adj" fmla="val 2352"/>
            </a:avLst>
          </a:prstGeom>
          <a:solidFill>
            <a:srgbClr val="17253C">
              <a:alpha val="100000"/>
            </a:srgbClr>
          </a:solidFill>
          <a:ln w="12700" cap="flat" cmpd="sng">
            <a:solidFill>
              <a:srgbClr val="38BDF8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2476500"/>
            <a:ext cx="4826000" cy="508000"/>
          </a:xfrm>
          <a:prstGeom prst="roundRect">
            <a:avLst>
              <a:gd name="adj" fmla="val 10000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25781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单选题 | 多选题 | 判断题 | 填空题 | 简答题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175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[模拟题]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关于考试防作弊机制，以下说法正确的是？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客户端可修改考试时间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切屏行为会被实时监测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C. 开考后题库可随意变更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13500" y="4826000"/>
            <a:ext cx="4826000" cy="12700"/>
          </a:xfrm>
          <a:prstGeom prst="roundRect">
            <a:avLst>
              <a:gd name="adj" fmla="val 0"/>
            </a:avLst>
          </a:prstGeom>
          <a:solidFill>
            <a:srgbClr val="38BDF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5080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5054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判分结果：客观题自动判分（毫秒级出分）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错题自动归档至错题本，同步更新能力画像，形成测评闭环。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3810000" cy="3810000"/>
          </a:xfrm>
          <a:prstGeom prst="ellipse">
            <a:avLst/>
          </a:prstGeom>
          <a:solidFill>
            <a:srgbClr val="00B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核心演示③：互动功能矩阵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64FFDA">
                <a:alpha val="7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3114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03400" y="2387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私聊系统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00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实时答疑 · 双向互动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746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支持师生一对一即时答疑，配备8秒轮询机制与已读状态反馈；气泡式聊天界面还原真实沟通场景，好友体系含申请同意流程，同课程师生自动关联，沟通更高效。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64FFDA">
                <a:alpha val="7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5200" y="23114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86400" y="2387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极速签到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200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数字口令 · 秒级响应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746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教师发起4位动态数字码，30秒倒计时内学生快速输入完成签到；后台实时同步名单并自动刷新，告别传统点名繁琐流程，大幅提升课堂考勤效率与准确性。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64FFDA">
                <a:alpha val="7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23114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69400" y="2387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专属教研室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200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私密隔离 · 专业备课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746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教师专属的私密交流与备课空间，通过course_id=0进行数据隔离，学生端触发API 403权限拦截；保障教学研讨的私密性与专业性，打造纯净的教研协作环境。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248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构建全场景互动生态，打通教学沟通的最后一公里，实现教与学的无缝连接与高效协同。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0A192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2700000" algn="tl">
              <a:srgbClr val="38BDF8">
                <a:alpha val="50000"/>
              </a:srgbClr>
            </a:outerShdw>
            <a:reflection blurRad="6350" stA="30000" endA="300" endPos="20000" dist="508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核心演示④：反馈中心三端闭环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52400" dir="2700000" algn="tl">
              <a:srgbClr val="38BDF8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5200" y="2095500"/>
            <a:ext cx="609600" cy="609600"/>
          </a:xfrm>
          <a:prstGeom prst="rect">
            <a:avLst/>
          </a:prstGeom>
          <a:effectLst>
            <a:outerShdw blurRad="101600" dir="2700000" algn="tl">
              <a:srgbClr val="38BDF8">
                <a:alpha val="4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143000" y="2857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学生提交反馈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精准选择分类，填写详细信息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52400" dir="2700000" algn="tl">
              <a:srgbClr val="38BDF8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2095500"/>
            <a:ext cx="609600" cy="609600"/>
          </a:xfrm>
          <a:prstGeom prst="rect">
            <a:avLst/>
          </a:prstGeom>
          <a:effectLst>
            <a:outerShdw blurRad="101600" dir="2700000" algn="tl">
              <a:srgbClr val="38BDF8">
                <a:alpha val="4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4699000" y="2857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管理员处理工单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智能筛选定位，闭环处置反馈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52400" dir="2700000" algn="tl">
              <a:srgbClr val="38BDF8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2095500"/>
            <a:ext cx="609600" cy="609600"/>
          </a:xfrm>
          <a:prstGeom prst="rect">
            <a:avLst/>
          </a:prstGeom>
          <a:effectLst>
            <a:outerShdw blurRad="101600" dir="2700000" algn="tl">
              <a:srgbClr val="38BDF8">
                <a:alpha val="40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8255000" y="2857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学生查看回复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实时追踪进度，接收处置结果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165600" y="2768600"/>
            <a:ext cx="304800" cy="304800"/>
          </a:xfrm>
          <a:prstGeom prst="rightArrow">
            <a:avLst/>
          </a:prstGeom>
          <a:solidFill>
            <a:srgbClr val="38BDF8">
              <a:alpha val="80000"/>
            </a:srgbClr>
          </a:solidFill>
          <a:ln cap="flat" cmpd="sng">
            <a:solidFill>
              <a:srgbClr val="38BDF8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721600" y="2768600"/>
            <a:ext cx="304800" cy="304800"/>
          </a:xfrm>
          <a:prstGeom prst="rightArrow">
            <a:avLst/>
          </a:prstGeom>
          <a:solidFill>
            <a:srgbClr val="38BDF8">
              <a:alpha val="80000"/>
            </a:srgbClr>
          </a:solidFill>
          <a:ln cap="flat" cmpd="sng">
            <a:solidFill>
              <a:srgbClr val="38BDF8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1200" y="4572000"/>
            <a:ext cx="107696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76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核心价值：打造真实的产品级工单闭环体系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70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全链路闭环：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从学生提交到管理员处置，再到结果同步，形成完整的信息流转闭环，确保用户反馈无遗漏、有回响。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5270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高效迭代驱动：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基于真实用户反馈的快速响应机制，助力产品持续优化，提升平台体验与用户满意度，形成正向循环。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175000" cy="3175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algn="tl">
              <a:srgbClr val="64FFDA">
                <a:alpha val="40000"/>
              </a:srgbClr>
            </a:outerShdw>
            <a:reflection blurRad="6350" stA="40000" endA="300" endPos="50000" dist="508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智能体：8 场景脱敏-RAG-LLM 管线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全链路安全可控的技术处理管线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1844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128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输入脱敏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过滤隐私信息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3241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900" y="21844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3749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敏感词过滤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拦截违规请求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8862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21844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9370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检索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召回知识库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4483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7100" y="21844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991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 组装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构建结构化指令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0104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9200" y="21844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612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调用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生成智能回复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5725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1300" y="21844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233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输出过滤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审查合规性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058400" y="2032000"/>
            <a:ext cx="13716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7200" y="21844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0109200" y="25146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审计日志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全量记录</a:t>
            </a:r>
            <a:endParaRPr lang="en-US" sz="1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11200" y="3556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覆盖学习与求职的8大核心应用场景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4127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06500" y="4254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5875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错题解析：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剖析错误根源，详解考点逻辑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16000" y="4762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06500" y="48895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587500" y="485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简历优化：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匹配岗位需求，优化简历表述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4127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40500" y="42545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9215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模拟面试：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全真模拟对话，专业反馈建议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0" y="4762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40500" y="48895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6921500" y="485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岗位解读：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解析职责要求，洞察发展前景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16000" y="5270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06500" y="5397500"/>
            <a:ext cx="254000" cy="2540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1587500" y="535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学习计划：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定制路径规划，科学提升效率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16000" y="5778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06500" y="5905500"/>
            <a:ext cx="254000" cy="2540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1587500" y="586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课程摘要：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提炼核心重点，快速掌握精华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350000" y="5270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5397500"/>
            <a:ext cx="254000" cy="254000"/>
          </a:xfrm>
          <a:prstGeom prst="rect">
            <a:avLst/>
          </a:prstGeom>
        </p:spPr>
      </p:pic>
      <p:sp>
        <p:nvSpPr>
          <p:cNvPr id="48" name="AutoShape 48"/>
          <p:cNvSpPr/>
          <p:nvPr/>
        </p:nvSpPr>
        <p:spPr>
          <a:xfrm>
            <a:off x="6921500" y="535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代码讲解：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逐行解析逻辑，解答疑难问题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350000" y="5778500"/>
            <a:ext cx="4826000" cy="5080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12700" cap="flat" cmpd="sng">
            <a:solidFill>
              <a:srgbClr val="A78B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40500" y="5905500"/>
            <a:ext cx="254000" cy="254000"/>
          </a:xfrm>
          <a:prstGeom prst="rect">
            <a:avLst/>
          </a:prstGeom>
        </p:spPr>
      </p:pic>
      <p:sp>
        <p:nvSpPr>
          <p:cNvPr id="51" name="AutoShape 51"/>
          <p:cNvSpPr/>
          <p:nvPr/>
        </p:nvSpPr>
        <p:spPr>
          <a:xfrm>
            <a:off x="6921500" y="586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9D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知识点推荐：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智能关联内容，拓展知识边界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B82F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数据大屏：三视角统计 + 真实数据规模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控制台核心监控维度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4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全维指标看板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B4BE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聚合用户、课程、考试及工单核心指标，毫秒级刷新，状态实时可视。</a:t>
            </a:r>
            <a:endParaRPr lang="en-US" sz="1300" b="0" i="0" u="none" strike="noStrike">
              <a:solidFill>
                <a:srgbClr val="B4BE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810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746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动态趋势研判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B4BE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可视化呈现近7日DAU/MAU波动，支持多维度筛选，捕捉活跃度规律。</a:t>
            </a:r>
            <a:endParaRPr lang="en-US" sz="1300" b="0" i="0" u="none" strike="noStrike">
              <a:solidFill>
                <a:srgbClr val="B4BE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08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5016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转化链路追踪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B4BE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构建全链路漏斗模型，量化流失率，定位业务转化关键瓶颈。</a:t>
            </a:r>
            <a:endParaRPr lang="en-US" sz="1300" b="0" i="0" u="none" strike="noStrike">
              <a:solidFill>
                <a:srgbClr val="B4BE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1524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平台真实运行数据快照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349500"/>
            <a:ext cx="1651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注册用户总数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937500" y="2349500"/>
            <a:ext cx="1651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上线精品课程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779000" y="2349500"/>
            <a:ext cx="1651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3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158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课程小节总数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96000" y="3683000"/>
            <a:ext cx="1651000" cy="1079500"/>
          </a:xfrm>
          <a:prstGeom prst="roundRect">
            <a:avLst>
              <a:gd name="adj" fmla="val 11764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52400" algn="tl">
              <a:srgbClr val="8B5CF6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156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CE1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题库题目总量</a:t>
            </a:r>
            <a:endParaRPr lang="en-US" sz="1100" b="0" i="0" u="none" strike="noStrike">
              <a:solidFill>
                <a:srgbClr val="DCE1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37500" y="3683000"/>
            <a:ext cx="1651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累计考试记录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779000" y="3683000"/>
            <a:ext cx="1651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507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答题明细数据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0" y="4953000"/>
            <a:ext cx="1651000" cy="1016000"/>
          </a:xfrm>
          <a:prstGeom prst="roundRect">
            <a:avLst>
              <a:gd name="adj" fmla="val 12500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52400" algn="tl">
              <a:srgbClr val="8B5CF6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CE1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社区讨论帖数</a:t>
            </a:r>
            <a:endParaRPr lang="en-US" sz="1100" b="0" i="0" u="none" strike="noStrike">
              <a:solidFill>
                <a:srgbClr val="DCE1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937500" y="4953000"/>
            <a:ext cx="1651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站内私聊消息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779000" y="4953000"/>
            <a:ext cx="1651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152400" algn="tl">
              <a:srgbClr val="64FFDA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447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累计签到人次</a:t>
            </a:r>
            <a:endParaRPr lang="en-US" sz="11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922000" cy="508000"/>
          </a:xfrm>
          <a:prstGeom prst="roundRect">
            <a:avLst>
              <a:gd name="adj" fmla="val 15000"/>
            </a:avLst>
          </a:prstGeom>
          <a:solidFill>
            <a:srgbClr val="172C47">
              <a:alpha val="9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61849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核心说明：</a:t>
            </a:r>
            <a:r>
              <a:rPr lang="en-US" sz="1200" b="0" i="0" u="none" strike="noStrike">
                <a:solidFill>
                  <a:srgbClr val="F0F6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上述数据均来自后端数据库实时查询接口，非前端硬编码，确保监控真实性与决策价值。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st="25400" dir="2700000" algn="tl">
              <a:srgbClr val="000000">
                <a:alpha val="30000"/>
              </a:srgbClr>
            </a:outerShdw>
            <a:reflection blurRad="6350" stA="40000" endA="300" endPos="50000" dist="50800" dir="5400000" sy="-100000" algn="bl" rotWithShape="0"/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工程质量：107 测试 + E2E 验证 + 幂等迁移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78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2120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后端测试体系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107/107 用例全通过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9652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3492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基于conftest实现测试环境与生产数据的物理隔离，杜绝污染风险。覆盖认证鉴权、课程管理等全核心业务场景，对边界条件与异常逻辑全覆盖验证。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120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幂等性架构保障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零重复 · 数据绝对一致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492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建表操作天然幂等，种子数据引入内容指纹自动判重。数据库迁移保留自增ID连续性，所有数据操作支持安全重跑，无重复写入风险。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5400000" algn="tl">
              <a:srgbClr val="64FFDA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120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E2E 自动化验证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63页核心路径全覆盖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3058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05800" y="3492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基于hdc与uitest自动化驱动框架，在模拟器环境中对核心业务流程全链路闭环验证。覆盖登录、选课、考试等63个关键页面，确保端侧功能与交互稳定。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" y="5715000"/>
            <a:ext cx="10769600" cy="635000"/>
          </a:xfrm>
          <a:prstGeom prst="roundRect">
            <a:avLst>
              <a:gd name="adj" fmla="val 0"/>
            </a:avLst>
          </a:prstGeom>
          <a:solidFill>
            <a:srgbClr val="64FFD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" y="5816600"/>
            <a:ext cx="1051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构建从单元测试到全链路验证的立体化质量保障体系，以严苛的工程标准夯实技术底座，为业务的高可用、高稳定运行提供坚实支撑。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524000"/>
            <a:ext cx="4445000" cy="4445000"/>
          </a:xfrm>
          <a:prstGeom prst="ellipse">
            <a:avLst/>
          </a:prstGeom>
          <a:solidFill>
            <a:srgbClr val="38BDF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556000" cy="3556000"/>
          </a:xfrm>
          <a:prstGeom prst="ellipse">
            <a:avLst/>
          </a:prstGeom>
          <a:solidFill>
            <a:srgbClr val="10B98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部署方案：一键启动脚本 + MySQL 生产化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3429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270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一键启动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9652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652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核心脚本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start_all.bat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双击即运行，无需复杂配置。自动完成 MySQL 服务检查、建库建表、数据迁移及后端服务启动，实现“一条命令，3分钟就绪”，大幅降低部署门槛。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83100" y="1651000"/>
            <a:ext cx="3429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270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1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721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手动部署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7371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7371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提供标准化五步部署指令集，适配异构环境与自定义配置需求。步骤全文档化呈现，逻辑清晰易懂，支持开发者根据服务器性能、网络环境灵活调整参数，满足个性化部署需求。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1651000"/>
            <a:ext cx="3429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blurRad="127000" dist="50800" dir="5400000" algn="tl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196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44000" y="200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容器化编排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509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509000" y="2921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Docker Compose 的一体化容器化方案，集成 MySQL、Redis、后端服务的一键编排。支持多阶段构建优化镜像体积，实现开发、测试、生产环境的高度一致，降低部署差异风险。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" y="5715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方案价值：覆盖从快速验证到生产部署的全场景需求，兼顾易用性与灵活性，确保系统从开发到上线的平滑过渡与稳定运行。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90500" dist="63500" dir="2700000" algn="tl">
              <a:srgbClr val="000000">
                <a:alpha val="5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01600" dist="38100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084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项目成果总结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C084FC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82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574800" y="266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全链路闭环设计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覆盖教学七环节全流程，打通教师、学生、管理员三角色协同，63页功能页面支撑，打造非Demo级的实战型教学系统。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112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C084FC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279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1574800" y="4064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安全可信的技术基座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采用服务端权威判分机制，关键操作快照固化与全流程审计留痕，自动化测试全覆盖，保障系统稳定可靠无死角。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11200" y="5334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C084FC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5676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1574800" y="5461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开箱即用的交付标准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支持Docker容器化一键部署，无缝对接真实业务数据源，配套完整的技术文档与运维手册，降低落地门槛。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738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01600" dist="38100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18C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未来演进规划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738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18CF8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882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137400" y="266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全渠道真机分发落地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完成应用市场（AGC）正式上架，配置官方签名证书，适配主流机型分辨率，实现消息推送的精准触达与管理。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738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18CF8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279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137400" y="4064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端侧AI能力深度进化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推进本地小模型离线化部署，实现低延迟语音智能答疑，摆脱网络依赖，提升用户交互的即时性与数据私密性。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73800" y="5334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18CF8">
                <a:alpha val="80000"/>
              </a:srgbClr>
            </a:solidFill>
            <a:prstDash val="solid"/>
            <a:round/>
          </a:ln>
          <a:effectLst>
            <a:outerShdw blurRad="152400" dist="63500" dir="2700000" algn="tl">
              <a:srgbClr val="000000">
                <a:alpha val="6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676900"/>
            <a:ext cx="457200" cy="457200"/>
          </a:xfrm>
          <a:prstGeom prst="rect">
            <a:avLst/>
          </a:prstGeom>
          <a:effectLst>
            <a:outerShdw blurRad="76200" dist="25400" dir="2700000" algn="tl">
              <a:srgbClr val="000000">
                <a:alpha val="50000"/>
              </a:srgbClr>
            </a:outerShdw>
          </a:effectLst>
        </p:spPr>
      </p:pic>
      <p:sp>
        <p:nvSpPr>
          <p:cNvPr id="22" name="AutoShape 22"/>
          <p:cNvSpPr/>
          <p:nvPr/>
        </p:nvSpPr>
        <p:spPr>
          <a:xfrm>
            <a:off x="7137400" y="5461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数据价值的深度挖掘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构建跨学期学情趋势分析模型，基于数据智能生成预警与干预策略，实现从经验驱动向数据驱动的教学决策转变。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4195</Words>
  <Application>WPS 演示</Application>
  <PresentationFormat/>
  <Paragraphs>370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小旋风</cp:lastModifiedBy>
  <cp:revision>2</cp:revision>
  <dcterms:created xsi:type="dcterms:W3CDTF">2026-09-07T16:14:03Z</dcterms:created>
  <dcterms:modified xsi:type="dcterms:W3CDTF">2026-09-07T16:14:27Z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{"Label":"1","ContentProducer":"001191110102MACQD9K64010000","ProduceID":"7682826856178027737","ReservedCode1":"","ContentPropagator":"","PropagateID":"","ReservedCode2":""}</vt:lpwstr>
  </property>
  <property fmtid="{D5CDD505-2E9C-101B-9397-08002B2CF9AE}" pid="3" name="ICV">
    <vt:lpwstr>A95D4EC89E8A4DC582CE67D9483E27CD_13</vt:lpwstr>
  </property>
  <property fmtid="{D5CDD505-2E9C-101B-9397-08002B2CF9AE}" pid="4" name="KSOProductBuildVer">
    <vt:lpwstr>2052-12.1.0.28505</vt:lpwstr>
  </property>
</Properties>
</file>